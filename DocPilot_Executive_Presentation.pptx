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23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645920"/>
            <a:ext cx="29260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  <a:latin typeface="Calibri"/>
              </a:defRPr>
            </a:pPr>
            <a:r>
              <a:t>AI-POWERED WORKFLOW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DocPilot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94A3B8"/>
                </a:solidFill>
                <a:latin typeface="Calibri"/>
              </a:defRPr>
            </a:pPr>
            <a:r>
              <a:rPr lang="en-US" dirty="0"/>
              <a:t>Development of an Intelligent File Classification and Automated Organization System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10698480" cy="109527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5453" y="4801939"/>
            <a:ext cx="10149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Calibri"/>
              </a:defRPr>
            </a:pPr>
            <a:r>
              <a:rPr sz="1600" b="1" dirty="0"/>
              <a:t>Don't organize files after they become messy catch them at the moment of arrival, understand their content with AI, and route them where the business needs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Where Documents Actually Get Lost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The breakdown happens at the </a:t>
            </a:r>
            <a:r>
              <a:rPr sz="1600" b="1" dirty="0"/>
              <a:t>arrival moment</a:t>
            </a:r>
            <a:r>
              <a:rPr sz="1600" dirty="0"/>
              <a:t>, not inside storage folders.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79776" cy="248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dirty="0"/>
              <a:t>1. Scattered </a:t>
            </a:r>
            <a:r>
              <a:rPr lang="en-IN" dirty="0"/>
              <a:t>System</a:t>
            </a:r>
            <a:endParaRPr dirty="0"/>
          </a:p>
          <a:p>
            <a:pPr>
              <a:lnSpc>
                <a:spcPct val="125000"/>
              </a:lnSpc>
              <a:defRPr sz="1300">
                <a:solidFill>
                  <a:srgbClr val="64748B"/>
                </a:solidFill>
                <a:latin typeface="Calibri"/>
              </a:defRPr>
            </a:pPr>
            <a:r>
              <a:rPr sz="1700" dirty="0"/>
              <a:t>Documents arrive through disconnected channels — email attachments, WhatsApp snaps, and local scans — with zero uniform naming.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01168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2377440"/>
            <a:ext cx="2779776" cy="215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dirty="0"/>
              <a:t>2. Manual Sorting Grind</a:t>
            </a:r>
          </a:p>
          <a:p>
            <a:pPr>
              <a:lnSpc>
                <a:spcPct val="125000"/>
              </a:lnSpc>
              <a:defRPr sz="1300">
                <a:solidFill>
                  <a:srgbClr val="64748B"/>
                </a:solidFill>
                <a:latin typeface="Calibri"/>
              </a:defRPr>
            </a:pPr>
            <a:r>
              <a:rPr sz="1700" dirty="0"/>
              <a:t>Professionals waste hours downloading, renaming, opening, and dragging files into subfolders manually every single </a:t>
            </a:r>
            <a:r>
              <a:rPr lang="en-IN" sz="1700" dirty="0"/>
              <a:t>time </a:t>
            </a:r>
            <a:r>
              <a:rPr sz="17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201168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2377440"/>
            <a:ext cx="2779776" cy="1832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dirty="0"/>
              <a:t>3. Costly Business Errors</a:t>
            </a:r>
          </a:p>
          <a:p>
            <a:pPr>
              <a:lnSpc>
                <a:spcPct val="125000"/>
              </a:lnSpc>
              <a:defRPr sz="1300">
                <a:solidFill>
                  <a:srgbClr val="64748B"/>
                </a:solidFill>
                <a:latin typeface="Calibri"/>
              </a:defRPr>
            </a:pPr>
            <a:r>
              <a:rPr sz="1700" dirty="0"/>
              <a:t>One misplaced invoice delays tax filing; a buried contract halts a real estate closing or triggers legal deadlines.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PRODUCT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How DocPilot Solves It in 3 Simple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 silent background gatekeeper that turns chaotic file arrival into organized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054096" cy="209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rPr dirty="0"/>
              <a:t>STEP 01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dirty="0"/>
              <a:t>Intercept at Arrival</a:t>
            </a:r>
          </a:p>
          <a:p>
            <a:pPr>
              <a:lnSpc>
                <a:spcPct val="125000"/>
              </a:lnSpc>
              <a:defRPr sz="1300">
                <a:solidFill>
                  <a:srgbClr val="64748B"/>
                </a:solidFill>
                <a:latin typeface="Calibri"/>
              </a:defRPr>
            </a:pPr>
            <a:r>
              <a:rPr sz="1700" dirty="0"/>
              <a:t>Watches dedicated intake paths (email, WhatsApp, watched folder or</a:t>
            </a:r>
            <a:r>
              <a:rPr lang="en-IN" sz="1700" dirty="0"/>
              <a:t> </a:t>
            </a:r>
            <a:r>
              <a:rPr sz="1700" dirty="0"/>
              <a:t>screenshot). </a:t>
            </a:r>
            <a:r>
              <a:rPr sz="1700" b="1" dirty="0"/>
              <a:t>Captures files before they are misplaced</a:t>
            </a:r>
            <a:r>
              <a:rPr sz="17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201168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90872" y="2377440"/>
            <a:ext cx="2779776" cy="2748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rPr dirty="0"/>
              <a:t>STEP 02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dirty="0"/>
              <a:t>Understand Content</a:t>
            </a:r>
          </a:p>
          <a:p>
            <a:pPr>
              <a:lnSpc>
                <a:spcPct val="125000"/>
              </a:lnSpc>
              <a:defRPr sz="1300">
                <a:solidFill>
                  <a:srgbClr val="64748B"/>
                </a:solidFill>
                <a:latin typeface="Calibri"/>
              </a:defRPr>
            </a:pPr>
            <a:r>
              <a:rPr sz="1700" dirty="0"/>
              <a:t>Multimodal AI reads PDFs and images natively. Extracts document type (invoice, contract, deed), dates, entities, and calculates a </a:t>
            </a:r>
            <a:r>
              <a:rPr sz="1700" b="1" dirty="0"/>
              <a:t>confidence score</a:t>
            </a:r>
            <a:r>
              <a:rPr sz="170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201168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75904" y="2377440"/>
            <a:ext cx="2779776" cy="2748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rPr dirty="0"/>
              <a:t>STEP 03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dirty="0"/>
              <a:t>Route &amp; Review</a:t>
            </a:r>
          </a:p>
          <a:p>
            <a:pPr>
              <a:lnSpc>
                <a:spcPct val="125000"/>
              </a:lnSpc>
              <a:defRPr sz="1300">
                <a:solidFill>
                  <a:srgbClr val="64748B"/>
                </a:solidFill>
                <a:latin typeface="Calibri"/>
              </a:defRPr>
            </a:pPr>
            <a:r>
              <a:rPr sz="1700" dirty="0"/>
              <a:t>High-confidence files auto-file into organized client folders. </a:t>
            </a:r>
            <a:r>
              <a:rPr sz="1700" b="1" dirty="0"/>
              <a:t>Low-confidence files route to a clean 1-click review queue  preventing any silent misfiling.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SYSTEM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Minimal &amp; Reliable Windows-First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Fast, lightweight, and built around existing AI APIs rather than heavy local models.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7C89CFE-B0B6-BF8F-023E-D94ECFABE212}"/>
              </a:ext>
            </a:extLst>
          </p:cNvPr>
          <p:cNvGrpSpPr/>
          <p:nvPr/>
        </p:nvGrpSpPr>
        <p:grpSpPr>
          <a:xfrm>
            <a:off x="731519" y="2011680"/>
            <a:ext cx="4390813" cy="1874520"/>
            <a:chOff x="731520" y="2011680"/>
            <a:chExt cx="2487168" cy="1874520"/>
          </a:xfrm>
        </p:grpSpPr>
        <p:sp>
          <p:nvSpPr>
            <p:cNvPr id="5" name="Rounded Rectangle 4"/>
            <p:cNvSpPr/>
            <p:nvPr/>
          </p:nvSpPr>
          <p:spPr>
            <a:xfrm>
              <a:off x="731520" y="2011680"/>
              <a:ext cx="2487168" cy="1874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2467" y="2171804"/>
              <a:ext cx="2029968" cy="1554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300" b="1">
                  <a:solidFill>
                    <a:srgbClr val="2563EB"/>
                  </a:solidFill>
                  <a:latin typeface="Calibri"/>
                </a:defRPr>
              </a:pPr>
              <a:r>
                <a:rPr sz="1400" dirty="0"/>
                <a:t>1. INTAKE CHANNELS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Inbound Email Forwarding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WhatsApp Business Hook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Local Folder Watcher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Global Screenshot Hotkey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74901F0-9555-03B8-BDCF-6FBF4D59AF6E}"/>
              </a:ext>
            </a:extLst>
          </p:cNvPr>
          <p:cNvGrpSpPr/>
          <p:nvPr/>
        </p:nvGrpSpPr>
        <p:grpSpPr>
          <a:xfrm>
            <a:off x="731520" y="4206240"/>
            <a:ext cx="4390812" cy="1874520"/>
            <a:chOff x="3474720" y="2011680"/>
            <a:chExt cx="2487168" cy="1874520"/>
          </a:xfrm>
        </p:grpSpPr>
        <p:sp>
          <p:nvSpPr>
            <p:cNvPr id="8" name="Rounded Rectangle 7"/>
            <p:cNvSpPr/>
            <p:nvPr/>
          </p:nvSpPr>
          <p:spPr>
            <a:xfrm>
              <a:off x="3474720" y="2011680"/>
              <a:ext cx="2487168" cy="1874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765667" y="2194664"/>
              <a:ext cx="2029968" cy="1554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300" b="1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2. WINDOWS CLIENT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Silent System Tray App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Toast Notifications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Offline Queueing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Zero-Friction Setup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99E839-5366-314F-C31C-1D1725B99F0C}"/>
              </a:ext>
            </a:extLst>
          </p:cNvPr>
          <p:cNvGrpSpPr/>
          <p:nvPr/>
        </p:nvGrpSpPr>
        <p:grpSpPr>
          <a:xfrm>
            <a:off x="7069670" y="4206240"/>
            <a:ext cx="4360330" cy="1874520"/>
            <a:chOff x="6217920" y="2011680"/>
            <a:chExt cx="2487168" cy="1874520"/>
          </a:xfrm>
        </p:grpSpPr>
        <p:sp>
          <p:nvSpPr>
            <p:cNvPr id="11" name="Rounded Rectangle 10"/>
            <p:cNvSpPr/>
            <p:nvPr/>
          </p:nvSpPr>
          <p:spPr>
            <a:xfrm>
              <a:off x="6217920" y="2011680"/>
              <a:ext cx="2487168" cy="1874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46520" y="2194664"/>
              <a:ext cx="2029968" cy="1554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300" b="1">
                  <a:solidFill>
                    <a:srgbClr val="10B981"/>
                  </a:solidFill>
                  <a:latin typeface="Calibri"/>
                </a:defRPr>
              </a:pPr>
              <a:r>
                <a:rPr sz="1400" dirty="0"/>
                <a:t>3. AI REASONING CORE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Multimodal Vision API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Extracts Vendor &amp; Dates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Structured JSON Output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Confidence Scoring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46D5DB-9DAA-B368-33E9-7BB5F606E16A}"/>
              </a:ext>
            </a:extLst>
          </p:cNvPr>
          <p:cNvGrpSpPr/>
          <p:nvPr/>
        </p:nvGrpSpPr>
        <p:grpSpPr>
          <a:xfrm>
            <a:off x="7057475" y="2011680"/>
            <a:ext cx="4390813" cy="1874520"/>
            <a:chOff x="8961120" y="2011680"/>
            <a:chExt cx="2487168" cy="1874520"/>
          </a:xfrm>
        </p:grpSpPr>
        <p:sp>
          <p:nvSpPr>
            <p:cNvPr id="14" name="Rounded Rectangle 13"/>
            <p:cNvSpPr/>
            <p:nvPr/>
          </p:nvSpPr>
          <p:spPr>
            <a:xfrm>
              <a:off x="8961120" y="2011680"/>
              <a:ext cx="2487168" cy="1874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95041" y="2171804"/>
              <a:ext cx="2029968" cy="1554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300" b="1">
                  <a:solidFill>
                    <a:srgbClr val="F59E0B"/>
                  </a:solidFill>
                  <a:latin typeface="Calibri"/>
                </a:defRPr>
              </a:pPr>
              <a:r>
                <a:rPr sz="1400" dirty="0"/>
                <a:t>4. ACTION &amp; SAFETY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Auto-Move &amp; Rename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1-Click Review Queue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Correction Feedback Loop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Complete Audit Logging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COMPETITIVE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Why DocPilot Stands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Solving the four fundamental flaws of traditional organizers.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636008" cy="1282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/>
              <a:t>Intake-First, Not Post-Mess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Traditional tools organize files already sitting on your drive. </a:t>
            </a:r>
            <a:r>
              <a:rPr sz="1600" dirty="0" err="1"/>
              <a:t>DocPilot</a:t>
            </a:r>
            <a:r>
              <a:rPr sz="1600" dirty="0"/>
              <a:t> catches documents at the front door before disorder ever begins.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01168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47104" y="2240280"/>
            <a:ext cx="4636008" cy="98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/>
              <a:t>Zero Rule-Writing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Pre-trained multimodal AI understands documents semantically from Day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4636008" cy="1282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/>
              <a:t>Confidence-Aware Safety Net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Never silently misfiles critical </a:t>
            </a:r>
            <a:r>
              <a:rPr lang="en-IN" sz="1600" dirty="0"/>
              <a:t>documents , </a:t>
            </a:r>
            <a:r>
              <a:rPr sz="1600" dirty="0"/>
              <a:t>legal or financial paperwork. Anything below confidence threshold enters </a:t>
            </a:r>
            <a:r>
              <a:rPr lang="en-IN" sz="1600" dirty="0"/>
              <a:t>for</a:t>
            </a:r>
            <a:r>
              <a:rPr sz="1600" dirty="0"/>
              <a:t> simple human review queue.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416052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47104" y="4389120"/>
            <a:ext cx="4636008" cy="1282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/>
              <a:t>Self-Tuning Memory Loop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When a user corrects a folder or classification, the system remembers that client's preference getting smarter without model retraining.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TARGET USERS &amp;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Who It Serves &amp; Development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Focused initially on </a:t>
            </a:r>
            <a:r>
              <a:rPr sz="1600" b="1" dirty="0"/>
              <a:t>Windows</a:t>
            </a:r>
            <a:r>
              <a:rPr sz="1600" dirty="0"/>
              <a:t>-based professionals with high document volume</a:t>
            </a:r>
            <a:r>
              <a:rPr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CEDB33-1AA3-5927-61B7-490CB4259589}"/>
              </a:ext>
            </a:extLst>
          </p:cNvPr>
          <p:cNvGrpSpPr/>
          <p:nvPr/>
        </p:nvGrpSpPr>
        <p:grpSpPr>
          <a:xfrm>
            <a:off x="731520" y="1742440"/>
            <a:ext cx="5184648" cy="2678853"/>
            <a:chOff x="731520" y="2011680"/>
            <a:chExt cx="5184648" cy="2678853"/>
          </a:xfrm>
        </p:grpSpPr>
        <p:sp>
          <p:nvSpPr>
            <p:cNvPr id="5" name="Rounded Rectangle 4"/>
            <p:cNvSpPr/>
            <p:nvPr/>
          </p:nvSpPr>
          <p:spPr>
            <a:xfrm>
              <a:off x="731520" y="2011680"/>
              <a:ext cx="5184648" cy="2678853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2130716"/>
              <a:ext cx="4636008" cy="2449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400"/>
                </a:spcAft>
                <a:defRPr sz="1300" b="1">
                  <a:solidFill>
                    <a:srgbClr val="2563EB"/>
                  </a:solidFill>
                  <a:latin typeface="Calibri"/>
                </a:defRPr>
              </a:pPr>
              <a:r>
                <a:rPr sz="1150" dirty="0"/>
                <a:t>PRIMARY USER PROFILES</a:t>
              </a:r>
              <a:endParaRPr lang="en-IN" sz="1150" dirty="0"/>
            </a:p>
            <a:p>
              <a:pPr>
                <a:defRPr sz="1300" b="1">
                  <a:solidFill>
                    <a:srgbClr val="0F172A"/>
                  </a:solidFill>
                  <a:latin typeface="Calibri"/>
                </a:defRPr>
              </a:pPr>
              <a:r>
                <a:rPr lang="en-IN" sz="1150" dirty="0"/>
                <a:t>• Accountants &amp; Bookkeepers</a:t>
              </a:r>
            </a:p>
            <a:p>
              <a:pPr>
                <a:spcAft>
                  <a:spcPts val="600"/>
                </a:spcAft>
                <a:defRPr sz="1100">
                  <a:solidFill>
                    <a:srgbClr val="64748B"/>
                  </a:solidFill>
                  <a:latin typeface="Calibri"/>
                </a:defRPr>
              </a:pPr>
              <a:r>
                <a:rPr sz="1150" dirty="0"/>
                <a:t>  Invoices, vendor receipts, bank statements needing client-wise segregation.</a:t>
              </a:r>
              <a:endParaRPr lang="en-IN" sz="1150" dirty="0"/>
            </a:p>
            <a:p>
              <a:pPr>
                <a:defRPr sz="1300" b="1">
                  <a:solidFill>
                    <a:srgbClr val="0F172A"/>
                  </a:solidFill>
                  <a:latin typeface="Calibri"/>
                </a:defRPr>
              </a:pPr>
              <a:r>
                <a:rPr lang="en-IN" sz="1150" dirty="0"/>
                <a:t>• Real Estate Brokers</a:t>
              </a:r>
            </a:p>
            <a:p>
              <a:pPr>
                <a:spcAft>
                  <a:spcPts val="600"/>
                </a:spcAft>
                <a:defRPr sz="1100">
                  <a:solidFill>
                    <a:srgbClr val="64748B"/>
                  </a:solidFill>
                  <a:latin typeface="Calibri"/>
                </a:defRPr>
              </a:pPr>
              <a:r>
                <a:rPr sz="1150" dirty="0"/>
                <a:t>  Agreements, inspection reports, NOCs, and property tax records per deal.</a:t>
              </a:r>
            </a:p>
            <a:p>
              <a:pPr>
                <a:defRPr sz="1300" b="1">
                  <a:solidFill>
                    <a:srgbClr val="0F172A"/>
                  </a:solidFill>
                  <a:latin typeface="Calibri"/>
                </a:defRPr>
              </a:pPr>
              <a:r>
                <a:rPr sz="1150" dirty="0"/>
                <a:t>• Legal Advocates &amp; Firms</a:t>
              </a:r>
            </a:p>
            <a:p>
              <a:pPr>
                <a:spcAft>
                  <a:spcPts val="600"/>
                </a:spcAft>
                <a:defRPr sz="1100">
                  <a:solidFill>
                    <a:srgbClr val="64748B"/>
                  </a:solidFill>
                  <a:latin typeface="Calibri"/>
                </a:defRPr>
              </a:pPr>
              <a:r>
                <a:rPr sz="1150" dirty="0"/>
                <a:t>  Case files, court orders, </a:t>
              </a:r>
              <a:r>
                <a:rPr sz="1150" dirty="0" err="1"/>
                <a:t>vakalatnamas</a:t>
              </a:r>
              <a:r>
                <a:rPr sz="1150" dirty="0"/>
                <a:t>, and affidavits requiring strict case matching.</a:t>
              </a:r>
            </a:p>
            <a:p>
              <a:pPr>
                <a:defRPr sz="1300" b="1">
                  <a:solidFill>
                    <a:srgbClr val="0F172A"/>
                  </a:solidFill>
                  <a:latin typeface="Calibri"/>
                </a:defRPr>
              </a:pPr>
              <a:r>
                <a:rPr sz="1150" dirty="0"/>
                <a:t>• Property Managers</a:t>
              </a:r>
            </a:p>
            <a:p>
              <a:pPr>
                <a:spcAft>
                  <a:spcPts val="600"/>
                </a:spcAft>
                <a:defRPr sz="1100">
                  <a:solidFill>
                    <a:srgbClr val="64748B"/>
                  </a:solidFill>
                  <a:latin typeface="Calibri"/>
                </a:defRPr>
              </a:pPr>
              <a:r>
                <a:rPr sz="1150" dirty="0"/>
                <a:t>  Lease renewals, tenant KYC, maintenance invoices, and rent slips.</a:t>
              </a: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6272784" y="1742440"/>
            <a:ext cx="5184648" cy="4384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47104" y="2036504"/>
            <a:ext cx="4636008" cy="3795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rPr sz="1400" dirty="0"/>
              <a:t>DEVELOPMENT ROADMAP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• Phase 1: Windows Core Engine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  Lightweight system tray app, watched folder intake, AI classification via vision API, automated filing.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• Phase 2: Inbound Webhooks &amp; Review UI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  Email attachment intake, WhatsApp bridge, and a </a:t>
            </a:r>
            <a:r>
              <a:rPr sz="1600" b="1" dirty="0"/>
              <a:t>clean single-screen review queue for low-confidence files</a:t>
            </a:r>
            <a:r>
              <a:rPr sz="1600" dirty="0"/>
              <a:t>.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• Phase 3: Feedback Memory &amp; Search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  Per-client correction learning, conversational natural language search ('find last month's lease').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• Phase 4: Cross-Platform Expansion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  Android companion capture app and macOS menu-bar client after Windows adoption proves out.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8757832B-6C2B-09BC-3581-59C2560C2E1C}"/>
              </a:ext>
            </a:extLst>
          </p:cNvPr>
          <p:cNvSpPr/>
          <p:nvPr/>
        </p:nvSpPr>
        <p:spPr>
          <a:xfrm>
            <a:off x="731520" y="4848126"/>
            <a:ext cx="5184648" cy="14884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Accountants &amp; Bookkeepers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2D8EE9-EBA2-1EE6-0AF6-E7E515836F28}"/>
              </a:ext>
            </a:extLst>
          </p:cNvPr>
          <p:cNvSpPr txBox="1"/>
          <p:nvPr/>
        </p:nvSpPr>
        <p:spPr>
          <a:xfrm>
            <a:off x="854964" y="4930625"/>
            <a:ext cx="49377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The main challenge is efficiently storing and quickly locating files.</a:t>
            </a:r>
            <a:r>
              <a:rPr lang="en-IN" sz="1600" dirty="0"/>
              <a:t> Because manual organization is so time-consuming and chaotic, </a:t>
            </a:r>
            <a:r>
              <a:rPr lang="en-IN" sz="1600" b="1" dirty="0"/>
              <a:t>everyone—from students and teachers to business owners—struggles to keep up with the high volume of data.</a:t>
            </a:r>
            <a:endParaRPr lang="en-IN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D2E3B-BF57-8E4B-E2A2-B2FF7DE4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6C0C2D-CE4C-EC69-686C-120637E15F65}"/>
              </a:ext>
            </a:extLst>
          </p:cNvPr>
          <p:cNvSpPr txBox="1"/>
          <p:nvPr/>
        </p:nvSpPr>
        <p:spPr>
          <a:xfrm>
            <a:off x="4427704" y="1557866"/>
            <a:ext cx="33365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Thank You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15BF4F-5975-B202-181B-F5C4404FB197}"/>
              </a:ext>
            </a:extLst>
          </p:cNvPr>
          <p:cNvGrpSpPr/>
          <p:nvPr/>
        </p:nvGrpSpPr>
        <p:grpSpPr>
          <a:xfrm>
            <a:off x="1445260" y="4204864"/>
            <a:ext cx="9301480" cy="1095270"/>
            <a:chOff x="731520" y="4572000"/>
            <a:chExt cx="10698480" cy="109527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864066E-01F4-9FE7-3479-A3B7073D3233}"/>
                </a:ext>
              </a:extLst>
            </p:cNvPr>
            <p:cNvSpPr/>
            <p:nvPr/>
          </p:nvSpPr>
          <p:spPr>
            <a:xfrm>
              <a:off x="731520" y="4572000"/>
              <a:ext cx="10698480" cy="1095270"/>
            </a:xfrm>
            <a:prstGeom prst="roundRect">
              <a:avLst/>
            </a:prstGeom>
            <a:solidFill>
              <a:srgbClr val="1E293B"/>
            </a:solidFill>
            <a:ln w="19050">
              <a:solidFill>
                <a:srgbClr val="3341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DE363B-B0DE-3974-08AF-40A8E1C1DDD5}"/>
                </a:ext>
              </a:extLst>
            </p:cNvPr>
            <p:cNvSpPr txBox="1"/>
            <p:nvPr/>
          </p:nvSpPr>
          <p:spPr>
            <a:xfrm>
              <a:off x="1120186" y="4765692"/>
              <a:ext cx="1014984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>
                  <a:solidFill>
                    <a:srgbClr val="F1F5F9"/>
                  </a:solidFill>
                  <a:latin typeface="Calibri"/>
                </a:defRPr>
              </a:pPr>
              <a:r>
                <a:rPr lang="en-IN" sz="2000" dirty="0">
                  <a:solidFill>
                    <a:srgbClr val="F1F5F9"/>
                  </a:solidFill>
                  <a:latin typeface="Calibri"/>
                </a:rPr>
                <a:t>We want to apologize for …. ANYTHING WHICH WE HAVE DONE WRONG AND </a:t>
              </a:r>
            </a:p>
            <a:p>
              <a:pPr>
                <a:defRPr sz="1400">
                  <a:solidFill>
                    <a:srgbClr val="F1F5F9"/>
                  </a:solidFill>
                  <a:latin typeface="Calibri"/>
                </a:defRPr>
              </a:pPr>
              <a:r>
                <a:rPr lang="en-IN" sz="2000" dirty="0">
                  <a:solidFill>
                    <a:srgbClr val="F1F5F9"/>
                  </a:solidFill>
                  <a:latin typeface="Calibri"/>
                </a:rPr>
                <a:t>   SIR </a:t>
              </a:r>
              <a:r>
                <a:rPr lang="en-IN" sz="2000" b="1" dirty="0" err="1">
                  <a:solidFill>
                    <a:srgbClr val="F1F5F9"/>
                  </a:solidFill>
                  <a:latin typeface="Calibri"/>
                </a:rPr>
                <a:t>कृपया</a:t>
              </a:r>
              <a:r>
                <a:rPr lang="en-IN" sz="2000" b="1" dirty="0">
                  <a:solidFill>
                    <a:srgbClr val="F1F5F9"/>
                  </a:solidFill>
                  <a:latin typeface="Calibri"/>
                </a:rPr>
                <a:t> </a:t>
              </a:r>
              <a:r>
                <a:rPr lang="en-IN" sz="2000" b="1" dirty="0" err="1">
                  <a:solidFill>
                    <a:srgbClr val="F1F5F9"/>
                  </a:solidFill>
                  <a:latin typeface="Calibri"/>
                </a:rPr>
                <a:t>हमें</a:t>
              </a:r>
              <a:r>
                <a:rPr lang="en-IN" sz="2000" b="1" dirty="0">
                  <a:solidFill>
                    <a:srgbClr val="F1F5F9"/>
                  </a:solidFill>
                  <a:latin typeface="Calibri"/>
                </a:rPr>
                <a:t> </a:t>
              </a:r>
              <a:r>
                <a:rPr lang="en-IN" sz="2000" b="1" dirty="0" err="1">
                  <a:solidFill>
                    <a:srgbClr val="F1F5F9"/>
                  </a:solidFill>
                  <a:latin typeface="Calibri"/>
                </a:rPr>
                <a:t>क्षमा</a:t>
              </a:r>
              <a:r>
                <a:rPr lang="en-IN" sz="2000" b="1" dirty="0">
                  <a:solidFill>
                    <a:srgbClr val="F1F5F9"/>
                  </a:solidFill>
                  <a:latin typeface="Calibri"/>
                </a:rPr>
                <a:t> </a:t>
              </a:r>
              <a:r>
                <a:rPr lang="en-IN" sz="2000" b="1" dirty="0" err="1">
                  <a:solidFill>
                    <a:srgbClr val="F1F5F9"/>
                  </a:solidFill>
                  <a:latin typeface="Calibri"/>
                </a:rPr>
                <a:t>करें</a:t>
              </a:r>
              <a:r>
                <a:rPr lang="en-IN" sz="2000" dirty="0">
                  <a:solidFill>
                    <a:srgbClr val="F1F5F9"/>
                  </a:solidFill>
                  <a:latin typeface="Calibri"/>
                </a:rPr>
                <a:t>।</a:t>
              </a:r>
              <a:endParaRPr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33686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712</Words>
  <Application>Microsoft Office PowerPoint</Application>
  <PresentationFormat>Widescreen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sumit suryawanshi</cp:lastModifiedBy>
  <cp:revision>2</cp:revision>
  <dcterms:created xsi:type="dcterms:W3CDTF">2013-01-27T09:14:16Z</dcterms:created>
  <dcterms:modified xsi:type="dcterms:W3CDTF">2026-09-12T09:19:28Z</dcterms:modified>
  <cp:category/>
</cp:coreProperties>
</file>